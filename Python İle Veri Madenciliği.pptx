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9" d="100"/>
          <a:sy n="89" d="100"/>
        </p:scale>
        <p:origin x="1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6/17/2022</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6/17/2022</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6/17/2022</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6/17/2022</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6/17/2022</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HXjnDIgGDuI&amp;list=PLmNPvQr9Tf-ZSDLwOzxpvY-HrE0yv-8Fy" TargetMode="External"/><Relationship Id="rId7" Type="http://schemas.openxmlformats.org/officeDocument/2006/relationships/hyperlink" Target="https://orangedatamining.com/" TargetMode="External"/><Relationship Id="rId2" Type="http://schemas.openxmlformats.org/officeDocument/2006/relationships/hyperlink" Target="https://www.youtube.com/watch?v=6HSZ0qppFWw&amp;list=PL2z35Dc9QW9I3P3ArCy64YbPMZn5eBybt&amp;index=14" TargetMode="External"/><Relationship Id="rId1" Type="http://schemas.openxmlformats.org/officeDocument/2006/relationships/slideLayout" Target="../slideLayouts/slideLayout3.xml"/><Relationship Id="rId6" Type="http://schemas.openxmlformats.org/officeDocument/2006/relationships/hyperlink" Target="file:///C:\Users\omiyi\Desktop\BMYO\1%20BAHAR%20D&#195;&#150;NEM&#196;&#176;\Yapay%20Zekaya%20Giri&#197;&#159;\python_ile_veri_madenciligi_nodrm.pdf" TargetMode="External"/><Relationship Id="rId5" Type="http://schemas.openxmlformats.org/officeDocument/2006/relationships/hyperlink" Target="https://www.youtube.com/watch?v=2xS6QjnG714&amp;list=PLmNPvQr9Tf-ZSDLwOzxpvY-HrE0yv-8Fy&amp;index=3" TargetMode="External"/><Relationship Id="rId4" Type="http://schemas.openxmlformats.org/officeDocument/2006/relationships/hyperlink" Target="https://www.youtube.com/watch?v=lb-x36xqJ-E&amp;list=PLmNPvQr9Tf-ZSDLwOzxpvY-HrE0yv-8Fy&amp;index=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AAA6AB8-A07C-4625-BD81-CC1A262EE931}"/>
              </a:ext>
            </a:extLst>
          </p:cNvPr>
          <p:cNvSpPr>
            <a:spLocks noGrp="1"/>
          </p:cNvSpPr>
          <p:nvPr>
            <p:ph type="ctrTitle"/>
          </p:nvPr>
        </p:nvSpPr>
        <p:spPr/>
        <p:txBody>
          <a:bodyPr/>
          <a:lstStyle/>
          <a:p>
            <a:r>
              <a:rPr lang="tr-TR"/>
              <a:t>Python ile VERİ MADENCİLİĞi</a:t>
            </a:r>
          </a:p>
        </p:txBody>
      </p:sp>
      <p:sp>
        <p:nvSpPr>
          <p:cNvPr id="3" name="Alt Başlık 2">
            <a:extLst>
              <a:ext uri="{FF2B5EF4-FFF2-40B4-BE49-F238E27FC236}">
                <a16:creationId xmlns:a16="http://schemas.microsoft.com/office/drawing/2014/main" id="{8405053E-43B2-4B3F-B771-2D31EFC1D972}"/>
              </a:ext>
            </a:extLst>
          </p:cNvPr>
          <p:cNvSpPr>
            <a:spLocks noGrp="1"/>
          </p:cNvSpPr>
          <p:nvPr>
            <p:ph type="subTitle" idx="1"/>
          </p:nvPr>
        </p:nvSpPr>
        <p:spPr/>
        <p:txBody>
          <a:bodyPr/>
          <a:lstStyle/>
          <a:p>
            <a:r>
              <a:rPr lang="tr-TR"/>
              <a:t>ORANGE ARACI</a:t>
            </a:r>
          </a:p>
        </p:txBody>
      </p:sp>
      <p:sp>
        <p:nvSpPr>
          <p:cNvPr id="4" name="Alt Başlık 2">
            <a:extLst>
              <a:ext uri="{FF2B5EF4-FFF2-40B4-BE49-F238E27FC236}">
                <a16:creationId xmlns:a16="http://schemas.microsoft.com/office/drawing/2014/main" id="{0173C0E9-4F8F-49A5-B941-C7205FEA25BE}"/>
              </a:ext>
            </a:extLst>
          </p:cNvPr>
          <p:cNvSpPr txBox="1">
            <a:spLocks/>
          </p:cNvSpPr>
          <p:nvPr/>
        </p:nvSpPr>
        <p:spPr>
          <a:xfrm>
            <a:off x="732771" y="5204166"/>
            <a:ext cx="6831673" cy="1086237"/>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r>
              <a:rPr lang="tr-TR">
                <a:solidFill>
                  <a:schemeClr val="tx1"/>
                </a:solidFill>
              </a:rPr>
              <a:t>ÖMER YILMAZ</a:t>
            </a:r>
          </a:p>
          <a:p>
            <a:r>
              <a:rPr lang="tr-TR">
                <a:solidFill>
                  <a:schemeClr val="tx1"/>
                </a:solidFill>
              </a:rPr>
              <a:t>2113007016</a:t>
            </a:r>
          </a:p>
        </p:txBody>
      </p:sp>
    </p:spTree>
    <p:extLst>
      <p:ext uri="{BB962C8B-B14F-4D97-AF65-F5344CB8AC3E}">
        <p14:creationId xmlns:p14="http://schemas.microsoft.com/office/powerpoint/2010/main" val="83576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998AD3-52FA-43B1-8B02-28A51DC3BB2C}"/>
              </a:ext>
            </a:extLst>
          </p:cNvPr>
          <p:cNvSpPr>
            <a:spLocks noGrp="1"/>
          </p:cNvSpPr>
          <p:nvPr>
            <p:ph type="title"/>
          </p:nvPr>
        </p:nvSpPr>
        <p:spPr/>
        <p:txBody>
          <a:bodyPr/>
          <a:lstStyle/>
          <a:p>
            <a:r>
              <a:rPr lang="tr-TR"/>
              <a:t>ORANGE ARACI	</a:t>
            </a:r>
          </a:p>
        </p:txBody>
      </p:sp>
      <p:sp>
        <p:nvSpPr>
          <p:cNvPr id="3" name="İçerik Yer Tutucusu 2">
            <a:extLst>
              <a:ext uri="{FF2B5EF4-FFF2-40B4-BE49-F238E27FC236}">
                <a16:creationId xmlns:a16="http://schemas.microsoft.com/office/drawing/2014/main" id="{65D3118F-26A6-468D-952D-C3F19D2607C3}"/>
              </a:ext>
            </a:extLst>
          </p:cNvPr>
          <p:cNvSpPr>
            <a:spLocks noGrp="1"/>
          </p:cNvSpPr>
          <p:nvPr>
            <p:ph idx="1"/>
          </p:nvPr>
        </p:nvSpPr>
        <p:spPr/>
        <p:txBody>
          <a:bodyPr/>
          <a:lstStyle/>
          <a:p>
            <a:r>
              <a:rPr lang="tr-TR"/>
              <a:t>Orange Data Mining Tool yani Veri Madenciliği Aracıdır.</a:t>
            </a:r>
          </a:p>
          <a:p>
            <a:r>
              <a:rPr lang="tr-TR"/>
              <a:t>Python’ın gücünü kullanan önemli bir veri madenciliği aracıdır.</a:t>
            </a:r>
          </a:p>
          <a:p>
            <a:r>
              <a:rPr lang="tr-TR"/>
              <a:t>Kullanımı kolaydır ve Veri Analizi – Veri Madenciliği alanlarına yeni başlayanlar için idealdir.</a:t>
            </a:r>
          </a:p>
          <a:p>
            <a:r>
              <a:rPr lang="tr-TR"/>
              <a:t>Esasen açık kaynak kodlu bir veri görselleştirme aracıdır.</a:t>
            </a:r>
          </a:p>
          <a:p>
            <a:pPr marL="0" indent="0">
              <a:buNone/>
            </a:pPr>
            <a:endParaRPr lang="tr-TR"/>
          </a:p>
          <a:p>
            <a:endParaRPr lang="tr-TR"/>
          </a:p>
          <a:p>
            <a:endParaRPr lang="tr-TR"/>
          </a:p>
        </p:txBody>
      </p:sp>
    </p:spTree>
    <p:extLst>
      <p:ext uri="{BB962C8B-B14F-4D97-AF65-F5344CB8AC3E}">
        <p14:creationId xmlns:p14="http://schemas.microsoft.com/office/powerpoint/2010/main" val="4244181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0372275-A9B7-4916-8E2F-CDDF645B5872}"/>
              </a:ext>
            </a:extLst>
          </p:cNvPr>
          <p:cNvSpPr>
            <a:spLocks noGrp="1"/>
          </p:cNvSpPr>
          <p:nvPr>
            <p:ph type="title"/>
          </p:nvPr>
        </p:nvSpPr>
        <p:spPr/>
        <p:txBody>
          <a:bodyPr/>
          <a:lstStyle/>
          <a:p>
            <a:r>
              <a:rPr lang="tr-TR"/>
              <a:t>Orange Aracı</a:t>
            </a:r>
            <a:br>
              <a:rPr lang="tr-TR"/>
            </a:br>
            <a:r>
              <a:rPr lang="tr-TR"/>
              <a:t>Arayüz	</a:t>
            </a:r>
          </a:p>
        </p:txBody>
      </p:sp>
      <p:pic>
        <p:nvPicPr>
          <p:cNvPr id="6" name="İçerik Yer Tutucusu 5">
            <a:extLst>
              <a:ext uri="{FF2B5EF4-FFF2-40B4-BE49-F238E27FC236}">
                <a16:creationId xmlns:a16="http://schemas.microsoft.com/office/drawing/2014/main" id="{3D5D72ED-63B2-44A9-9289-856185F66F0A}"/>
              </a:ext>
            </a:extLst>
          </p:cNvPr>
          <p:cNvPicPr>
            <a:picLocks noGrp="1" noChangeAspect="1"/>
          </p:cNvPicPr>
          <p:nvPr>
            <p:ph idx="1"/>
          </p:nvPr>
        </p:nvPicPr>
        <p:blipFill rotWithShape="1">
          <a:blip r:embed="rId2"/>
          <a:srcRect l="295"/>
          <a:stretch/>
        </p:blipFill>
        <p:spPr>
          <a:xfrm>
            <a:off x="6096000" y="1481384"/>
            <a:ext cx="5924253" cy="3895232"/>
          </a:xfrm>
        </p:spPr>
      </p:pic>
      <p:sp>
        <p:nvSpPr>
          <p:cNvPr id="4" name="Metin Yer Tutucusu 3">
            <a:extLst>
              <a:ext uri="{FF2B5EF4-FFF2-40B4-BE49-F238E27FC236}">
                <a16:creationId xmlns:a16="http://schemas.microsoft.com/office/drawing/2014/main" id="{C949413F-0F55-48A6-ACE5-53FA1AB88FE5}"/>
              </a:ext>
            </a:extLst>
          </p:cNvPr>
          <p:cNvSpPr>
            <a:spLocks noGrp="1"/>
          </p:cNvSpPr>
          <p:nvPr>
            <p:ph type="body" sz="half" idx="2"/>
          </p:nvPr>
        </p:nvSpPr>
        <p:spPr/>
        <p:txBody>
          <a:bodyPr>
            <a:normAutofit lnSpcReduction="10000"/>
          </a:bodyPr>
          <a:lstStyle/>
          <a:p>
            <a:r>
              <a:rPr lang="tr-TR" sz="1800"/>
              <a:t>Aracı ilk açtığımızda bizleri bir karşılama ekranı karşılamaktadır.</a:t>
            </a:r>
          </a:p>
          <a:p>
            <a:r>
              <a:rPr lang="tr-TR" sz="1800"/>
              <a:t>Buradan yeni bir proje oluşturabilir, önceki projelerimize ulaşabiliriz.</a:t>
            </a:r>
          </a:p>
          <a:p>
            <a:r>
              <a:rPr lang="tr-TR" sz="1800"/>
              <a:t>Veya eğiticileri kullanarak, araç hakkında bilgi edinebilir, dokümantasyonlara ve örneklere ulaşabiliriz.</a:t>
            </a:r>
          </a:p>
          <a:p>
            <a:endParaRPr lang="tr-TR" sz="1800"/>
          </a:p>
        </p:txBody>
      </p:sp>
    </p:spTree>
    <p:extLst>
      <p:ext uri="{BB962C8B-B14F-4D97-AF65-F5344CB8AC3E}">
        <p14:creationId xmlns:p14="http://schemas.microsoft.com/office/powerpoint/2010/main" val="402084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48896BC1-CCFF-4C52-BCB5-2433110DB07E}"/>
              </a:ext>
            </a:extLst>
          </p:cNvPr>
          <p:cNvPicPr>
            <a:picLocks noGrp="1" noChangeAspect="1"/>
          </p:cNvPicPr>
          <p:nvPr>
            <p:ph idx="1"/>
          </p:nvPr>
        </p:nvPicPr>
        <p:blipFill rotWithShape="1">
          <a:blip r:embed="rId2"/>
          <a:srcRect t="403"/>
          <a:stretch/>
        </p:blipFill>
        <p:spPr>
          <a:xfrm>
            <a:off x="6096000" y="1495313"/>
            <a:ext cx="5934833" cy="3883084"/>
          </a:xfrm>
        </p:spPr>
      </p:pic>
      <p:sp>
        <p:nvSpPr>
          <p:cNvPr id="4" name="Metin Yer Tutucusu 3">
            <a:extLst>
              <a:ext uri="{FF2B5EF4-FFF2-40B4-BE49-F238E27FC236}">
                <a16:creationId xmlns:a16="http://schemas.microsoft.com/office/drawing/2014/main" id="{B7B1DD30-A7B2-45DB-8A90-542A29B07FE7}"/>
              </a:ext>
            </a:extLst>
          </p:cNvPr>
          <p:cNvSpPr>
            <a:spLocks noGrp="1"/>
          </p:cNvSpPr>
          <p:nvPr>
            <p:ph type="body" sz="half" idx="2"/>
          </p:nvPr>
        </p:nvSpPr>
        <p:spPr/>
        <p:txBody>
          <a:bodyPr/>
          <a:lstStyle/>
          <a:p>
            <a:r>
              <a:rPr lang="tr-TR"/>
              <a:t>Karşılama ekranını kapattığımızda bizleri boş bir tuval karşılamaktadır. </a:t>
            </a:r>
          </a:p>
          <a:p>
            <a:r>
              <a:rPr lang="tr-TR"/>
              <a:t>Sol taraftaki araç kutumuzda widget’lar yani araca ait görsel bileşenler bulunmaktadır.</a:t>
            </a:r>
          </a:p>
          <a:p>
            <a:r>
              <a:rPr lang="tr-TR"/>
              <a:t>Bu widget’lar-bileşenler Orange aracının hesaplama birimleridir. Verileri okumayı, işlemeyi ve kolaylıkla görselleştirmeyi sağlarlar.</a:t>
            </a:r>
          </a:p>
        </p:txBody>
      </p:sp>
      <p:sp>
        <p:nvSpPr>
          <p:cNvPr id="7" name="Başlık 1">
            <a:extLst>
              <a:ext uri="{FF2B5EF4-FFF2-40B4-BE49-F238E27FC236}">
                <a16:creationId xmlns:a16="http://schemas.microsoft.com/office/drawing/2014/main" id="{01BD5FAC-22B6-408A-AD96-DB35704A2E8F}"/>
              </a:ext>
            </a:extLst>
          </p:cNvPr>
          <p:cNvSpPr>
            <a:spLocks noGrp="1"/>
          </p:cNvSpPr>
          <p:nvPr>
            <p:ph type="title"/>
          </p:nvPr>
        </p:nvSpPr>
        <p:spPr>
          <a:xfrm>
            <a:off x="723900" y="685800"/>
            <a:ext cx="3855720" cy="2157884"/>
          </a:xfrm>
        </p:spPr>
        <p:txBody>
          <a:bodyPr/>
          <a:lstStyle/>
          <a:p>
            <a:r>
              <a:rPr lang="tr-TR"/>
              <a:t>Orange Araç Kutusu</a:t>
            </a:r>
          </a:p>
        </p:txBody>
      </p:sp>
    </p:spTree>
    <p:extLst>
      <p:ext uri="{BB962C8B-B14F-4D97-AF65-F5344CB8AC3E}">
        <p14:creationId xmlns:p14="http://schemas.microsoft.com/office/powerpoint/2010/main" val="14806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517886-5865-4BA4-9720-0A526D39C966}"/>
              </a:ext>
            </a:extLst>
          </p:cNvPr>
          <p:cNvSpPr>
            <a:spLocks noGrp="1"/>
          </p:cNvSpPr>
          <p:nvPr>
            <p:ph type="title"/>
          </p:nvPr>
        </p:nvSpPr>
        <p:spPr/>
        <p:txBody>
          <a:bodyPr/>
          <a:lstStyle/>
          <a:p>
            <a:r>
              <a:rPr lang="tr-TR"/>
              <a:t>VERİ ANALİZİ İŞ AKIŞI</a:t>
            </a:r>
          </a:p>
        </p:txBody>
      </p:sp>
      <p:sp>
        <p:nvSpPr>
          <p:cNvPr id="3" name="İçerik Yer Tutucusu 2">
            <a:extLst>
              <a:ext uri="{FF2B5EF4-FFF2-40B4-BE49-F238E27FC236}">
                <a16:creationId xmlns:a16="http://schemas.microsoft.com/office/drawing/2014/main" id="{C73C38F7-9FD8-4DEB-AFCA-63582D98ADEC}"/>
              </a:ext>
            </a:extLst>
          </p:cNvPr>
          <p:cNvSpPr>
            <a:spLocks noGrp="1"/>
          </p:cNvSpPr>
          <p:nvPr>
            <p:ph idx="1"/>
          </p:nvPr>
        </p:nvSpPr>
        <p:spPr/>
        <p:txBody>
          <a:bodyPr/>
          <a:lstStyle/>
          <a:p>
            <a:r>
              <a:rPr lang="tr-TR"/>
              <a:t>Çoğu veri analizi iş akışı bir file (dosya) widget-bileşeni ile başlar.</a:t>
            </a:r>
          </a:p>
          <a:p>
            <a:r>
              <a:rPr lang="tr-TR"/>
              <a:t>Analiz edeceğimiz dosyalar bir çok farklı uzantıda olabilir. Örneğin: Excel dosyası için .xls</a:t>
            </a:r>
          </a:p>
          <a:p>
            <a:r>
              <a:rPr lang="tr-TR"/>
              <a:t>Belirli farklı veri setleri için de birer bileşen bulabilmekteyiz.</a:t>
            </a:r>
          </a:p>
          <a:p>
            <a:r>
              <a:rPr lang="tr-TR"/>
              <a:t>CSV, Datasets, SQL Table … gibi</a:t>
            </a:r>
          </a:p>
          <a:p>
            <a:r>
              <a:rPr lang="tr-TR"/>
              <a:t>Orange Aracı bu verileri URL olarakta alabilmektedir.</a:t>
            </a:r>
          </a:p>
          <a:p>
            <a:r>
              <a:rPr lang="tr-TR"/>
              <a:t>Aracımızın içerisinde de çalışmalar yapabilmek adına birer basit örnek dosyalarıda bulunmaktadır.</a:t>
            </a:r>
          </a:p>
        </p:txBody>
      </p:sp>
    </p:spTree>
    <p:extLst>
      <p:ext uri="{BB962C8B-B14F-4D97-AF65-F5344CB8AC3E}">
        <p14:creationId xmlns:p14="http://schemas.microsoft.com/office/powerpoint/2010/main" val="2474476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7363D5-7C1D-4299-A75E-337C132AA9A5}"/>
              </a:ext>
            </a:extLst>
          </p:cNvPr>
          <p:cNvSpPr>
            <a:spLocks noGrp="1"/>
          </p:cNvSpPr>
          <p:nvPr>
            <p:ph type="title"/>
          </p:nvPr>
        </p:nvSpPr>
        <p:spPr/>
        <p:txBody>
          <a:bodyPr/>
          <a:lstStyle/>
          <a:p>
            <a:r>
              <a:rPr lang="tr-TR"/>
              <a:t>Orange Aracına Veri Seti Ekleme</a:t>
            </a:r>
          </a:p>
        </p:txBody>
      </p:sp>
      <p:pic>
        <p:nvPicPr>
          <p:cNvPr id="6" name="İçerik Yer Tutucusu 5">
            <a:extLst>
              <a:ext uri="{FF2B5EF4-FFF2-40B4-BE49-F238E27FC236}">
                <a16:creationId xmlns:a16="http://schemas.microsoft.com/office/drawing/2014/main" id="{2EA79CED-ABA7-4C93-B4C6-EBCC55CCA9E7}"/>
              </a:ext>
            </a:extLst>
          </p:cNvPr>
          <p:cNvPicPr>
            <a:picLocks noGrp="1" noChangeAspect="1"/>
          </p:cNvPicPr>
          <p:nvPr>
            <p:ph idx="1"/>
          </p:nvPr>
        </p:nvPicPr>
        <p:blipFill>
          <a:blip r:embed="rId2"/>
          <a:stretch>
            <a:fillRect/>
          </a:stretch>
        </p:blipFill>
        <p:spPr>
          <a:xfrm>
            <a:off x="5529431" y="1388029"/>
            <a:ext cx="6662569" cy="3648207"/>
          </a:xfrm>
        </p:spPr>
      </p:pic>
      <p:sp>
        <p:nvSpPr>
          <p:cNvPr id="4" name="Metin Yer Tutucusu 3">
            <a:extLst>
              <a:ext uri="{FF2B5EF4-FFF2-40B4-BE49-F238E27FC236}">
                <a16:creationId xmlns:a16="http://schemas.microsoft.com/office/drawing/2014/main" id="{632523A8-AEF8-451B-8B57-EFFD36413CCC}"/>
              </a:ext>
            </a:extLst>
          </p:cNvPr>
          <p:cNvSpPr>
            <a:spLocks noGrp="1"/>
          </p:cNvSpPr>
          <p:nvPr>
            <p:ph type="body" sz="half" idx="2"/>
          </p:nvPr>
        </p:nvSpPr>
        <p:spPr/>
        <p:txBody>
          <a:bodyPr/>
          <a:lstStyle/>
          <a:p>
            <a:r>
              <a:rPr lang="tr-TR"/>
              <a:t>File bileşeni ile Orange aracı içerisindeki hazır veri setlerine veya cihazımızdaki veri setlerine ulaşabilir ve çalışmamıza ekleyebiliriz.</a:t>
            </a:r>
          </a:p>
          <a:p>
            <a:r>
              <a:rPr lang="tr-TR"/>
              <a:t>Örneğin çalışmalarımıza Orange’a yeni başlayan arasındaki en çok kullanılan veri setlerinden Iris veri setini kullanabiliriz.</a:t>
            </a:r>
          </a:p>
        </p:txBody>
      </p:sp>
      <p:sp>
        <p:nvSpPr>
          <p:cNvPr id="13" name="Ok: Sağ 12">
            <a:extLst>
              <a:ext uri="{FF2B5EF4-FFF2-40B4-BE49-F238E27FC236}">
                <a16:creationId xmlns:a16="http://schemas.microsoft.com/office/drawing/2014/main" id="{743EC83B-384F-4A0F-8EA1-8B4981D12D95}"/>
              </a:ext>
            </a:extLst>
          </p:cNvPr>
          <p:cNvSpPr/>
          <p:nvPr/>
        </p:nvSpPr>
        <p:spPr>
          <a:xfrm>
            <a:off x="7390504" y="2054711"/>
            <a:ext cx="688489" cy="376517"/>
          </a:xfrm>
          <a:prstGeom prst="righ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8" name="Oval 17">
            <a:extLst>
              <a:ext uri="{FF2B5EF4-FFF2-40B4-BE49-F238E27FC236}">
                <a16:creationId xmlns:a16="http://schemas.microsoft.com/office/drawing/2014/main" id="{C39C0178-591C-4A06-A7EA-2FD57CEC059A}"/>
              </a:ext>
            </a:extLst>
          </p:cNvPr>
          <p:cNvSpPr/>
          <p:nvPr/>
        </p:nvSpPr>
        <p:spPr>
          <a:xfrm>
            <a:off x="5448746" y="1904100"/>
            <a:ext cx="561189" cy="561189"/>
          </a:xfrm>
          <a:prstGeom prst="ellipse">
            <a:avLst/>
          </a:prstGeom>
          <a:noFill/>
          <a:ln>
            <a:solidFill>
              <a:schemeClr val="accent4">
                <a:lumMod val="7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sp>
        <p:nvSpPr>
          <p:cNvPr id="17" name="Ok: Aşağı 16">
            <a:extLst>
              <a:ext uri="{FF2B5EF4-FFF2-40B4-BE49-F238E27FC236}">
                <a16:creationId xmlns:a16="http://schemas.microsoft.com/office/drawing/2014/main" id="{EEEAC732-3F75-4FE0-B30C-AFE937B37A35}"/>
              </a:ext>
            </a:extLst>
          </p:cNvPr>
          <p:cNvSpPr/>
          <p:nvPr/>
        </p:nvSpPr>
        <p:spPr>
          <a:xfrm>
            <a:off x="5518022" y="1054247"/>
            <a:ext cx="431613" cy="871370"/>
          </a:xfrm>
          <a:prstGeom prst="downArrow">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tr-TR"/>
          </a:p>
        </p:txBody>
      </p:sp>
      <p:sp>
        <p:nvSpPr>
          <p:cNvPr id="19" name="Ok: Yukarı 18">
            <a:extLst>
              <a:ext uri="{FF2B5EF4-FFF2-40B4-BE49-F238E27FC236}">
                <a16:creationId xmlns:a16="http://schemas.microsoft.com/office/drawing/2014/main" id="{C4A5DB76-9220-4F55-A11C-38D3D7DC435C}"/>
              </a:ext>
            </a:extLst>
          </p:cNvPr>
          <p:cNvSpPr/>
          <p:nvPr/>
        </p:nvSpPr>
        <p:spPr>
          <a:xfrm>
            <a:off x="11458302" y="4665926"/>
            <a:ext cx="366849" cy="7406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a:extLst>
              <a:ext uri="{FF2B5EF4-FFF2-40B4-BE49-F238E27FC236}">
                <a16:creationId xmlns:a16="http://schemas.microsoft.com/office/drawing/2014/main" id="{62DA8EC1-53D1-4853-BAF3-49FBA1B256A3}"/>
              </a:ext>
            </a:extLst>
          </p:cNvPr>
          <p:cNvSpPr/>
          <p:nvPr/>
        </p:nvSpPr>
        <p:spPr>
          <a:xfrm>
            <a:off x="9025665" y="1925617"/>
            <a:ext cx="2194560" cy="23667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tr-TR"/>
          </a:p>
        </p:txBody>
      </p:sp>
    </p:spTree>
    <p:extLst>
      <p:ext uri="{BB962C8B-B14F-4D97-AF65-F5344CB8AC3E}">
        <p14:creationId xmlns:p14="http://schemas.microsoft.com/office/powerpoint/2010/main" val="67876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28A554B-F89E-4165-A662-51016EE0B169}"/>
              </a:ext>
            </a:extLst>
          </p:cNvPr>
          <p:cNvSpPr>
            <a:spLocks noGrp="1"/>
          </p:cNvSpPr>
          <p:nvPr>
            <p:ph type="title"/>
          </p:nvPr>
        </p:nvSpPr>
        <p:spPr/>
        <p:txBody>
          <a:bodyPr/>
          <a:lstStyle/>
          <a:p>
            <a:r>
              <a:rPr lang="tr-TR"/>
              <a:t>Orange Veri Tablosu Oluşturma</a:t>
            </a:r>
          </a:p>
        </p:txBody>
      </p:sp>
      <p:pic>
        <p:nvPicPr>
          <p:cNvPr id="6" name="İçerik Yer Tutucusu 5">
            <a:extLst>
              <a:ext uri="{FF2B5EF4-FFF2-40B4-BE49-F238E27FC236}">
                <a16:creationId xmlns:a16="http://schemas.microsoft.com/office/drawing/2014/main" id="{7201B714-FFC7-4574-9D0D-600DFB4C0ABA}"/>
              </a:ext>
            </a:extLst>
          </p:cNvPr>
          <p:cNvPicPr>
            <a:picLocks noGrp="1" noChangeAspect="1"/>
          </p:cNvPicPr>
          <p:nvPr>
            <p:ph idx="1"/>
          </p:nvPr>
        </p:nvPicPr>
        <p:blipFill>
          <a:blip r:embed="rId2"/>
          <a:stretch>
            <a:fillRect/>
          </a:stretch>
        </p:blipFill>
        <p:spPr>
          <a:xfrm>
            <a:off x="5529431" y="1194936"/>
            <a:ext cx="6662569" cy="4468127"/>
          </a:xfrm>
        </p:spPr>
      </p:pic>
      <p:sp>
        <p:nvSpPr>
          <p:cNvPr id="4" name="Metin Yer Tutucusu 3">
            <a:extLst>
              <a:ext uri="{FF2B5EF4-FFF2-40B4-BE49-F238E27FC236}">
                <a16:creationId xmlns:a16="http://schemas.microsoft.com/office/drawing/2014/main" id="{096B581C-1156-414D-B574-99D0AA2A6BA8}"/>
              </a:ext>
            </a:extLst>
          </p:cNvPr>
          <p:cNvSpPr>
            <a:spLocks noGrp="1"/>
          </p:cNvSpPr>
          <p:nvPr>
            <p:ph type="body" sz="half" idx="2"/>
          </p:nvPr>
        </p:nvSpPr>
        <p:spPr>
          <a:xfrm>
            <a:off x="723900" y="2856344"/>
            <a:ext cx="3855720" cy="3315856"/>
          </a:xfrm>
        </p:spPr>
        <p:txBody>
          <a:bodyPr>
            <a:normAutofit lnSpcReduction="10000"/>
          </a:bodyPr>
          <a:lstStyle/>
          <a:p>
            <a:r>
              <a:rPr lang="tr-TR"/>
              <a:t>Widget’lar-bileşenler birbirleriyle iletişim kurabilirler. Böylelikle file bileşeni ile aldığımız veriyi istediğimiz şekilde bir çıktı olarak alabiliriz.</a:t>
            </a:r>
          </a:p>
          <a:p>
            <a:r>
              <a:rPr lang="tr-TR"/>
              <a:t>Örneğin verimizi bir tablo olarak görmek istediğimizde Data Table bileşenini kullanabiliriz.</a:t>
            </a:r>
          </a:p>
          <a:p>
            <a:r>
              <a:rPr lang="tr-TR"/>
              <a:t>Verimizi çektiğimiz file bileşeni ile veri tablomuz arasında basit bir tıklama ile ilişki kurarak output (çıktımızı) tabloya bir input (girdi) olarak verebiliriz.</a:t>
            </a:r>
          </a:p>
        </p:txBody>
      </p:sp>
      <p:sp>
        <p:nvSpPr>
          <p:cNvPr id="7" name="Ok: Aşağı 6">
            <a:extLst>
              <a:ext uri="{FF2B5EF4-FFF2-40B4-BE49-F238E27FC236}">
                <a16:creationId xmlns:a16="http://schemas.microsoft.com/office/drawing/2014/main" id="{CF8694A2-7899-447B-86DD-64A54DE7A4E5}"/>
              </a:ext>
            </a:extLst>
          </p:cNvPr>
          <p:cNvSpPr/>
          <p:nvPr/>
        </p:nvSpPr>
        <p:spPr>
          <a:xfrm>
            <a:off x="5550947" y="1764742"/>
            <a:ext cx="376518" cy="570156"/>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tr-TR"/>
          </a:p>
        </p:txBody>
      </p:sp>
      <p:sp>
        <p:nvSpPr>
          <p:cNvPr id="8" name="Ok: Aşağı 7">
            <a:extLst>
              <a:ext uri="{FF2B5EF4-FFF2-40B4-BE49-F238E27FC236}">
                <a16:creationId xmlns:a16="http://schemas.microsoft.com/office/drawing/2014/main" id="{97B1FC29-758A-4A5B-AD82-A4A2A2BC8B0F}"/>
              </a:ext>
            </a:extLst>
          </p:cNvPr>
          <p:cNvSpPr/>
          <p:nvPr/>
        </p:nvSpPr>
        <p:spPr>
          <a:xfrm>
            <a:off x="9079454" y="1317811"/>
            <a:ext cx="376518" cy="5701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4029765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5BDD79-1DCF-4E0C-B0C8-221388CAB8C8}"/>
              </a:ext>
            </a:extLst>
          </p:cNvPr>
          <p:cNvSpPr>
            <a:spLocks noGrp="1"/>
          </p:cNvSpPr>
          <p:nvPr>
            <p:ph type="title"/>
          </p:nvPr>
        </p:nvSpPr>
        <p:spPr/>
        <p:txBody>
          <a:bodyPr/>
          <a:lstStyle/>
          <a:p>
            <a:r>
              <a:rPr lang="tr-TR"/>
              <a:t>ORANGE VERİLERİ GÖRSELLEŞTİRME</a:t>
            </a:r>
          </a:p>
        </p:txBody>
      </p:sp>
      <p:pic>
        <p:nvPicPr>
          <p:cNvPr id="7" name="İçerik Yer Tutucusu 6">
            <a:extLst>
              <a:ext uri="{FF2B5EF4-FFF2-40B4-BE49-F238E27FC236}">
                <a16:creationId xmlns:a16="http://schemas.microsoft.com/office/drawing/2014/main" id="{CF63EE49-5A36-4697-9CB5-495643E0CAC9}"/>
              </a:ext>
            </a:extLst>
          </p:cNvPr>
          <p:cNvPicPr>
            <a:picLocks noGrp="1" noChangeAspect="1"/>
          </p:cNvPicPr>
          <p:nvPr>
            <p:ph idx="1"/>
          </p:nvPr>
        </p:nvPicPr>
        <p:blipFill>
          <a:blip r:embed="rId2"/>
          <a:stretch>
            <a:fillRect/>
          </a:stretch>
        </p:blipFill>
        <p:spPr>
          <a:xfrm>
            <a:off x="3445001" y="2895601"/>
            <a:ext cx="5454398" cy="3581400"/>
          </a:xfrm>
        </p:spPr>
      </p:pic>
      <p:sp>
        <p:nvSpPr>
          <p:cNvPr id="4" name="İçerik Yer Tutucusu 2">
            <a:extLst>
              <a:ext uri="{FF2B5EF4-FFF2-40B4-BE49-F238E27FC236}">
                <a16:creationId xmlns:a16="http://schemas.microsoft.com/office/drawing/2014/main" id="{7FAEFC85-6EF7-4DF2-B939-10906534D161}"/>
              </a:ext>
            </a:extLst>
          </p:cNvPr>
          <p:cNvSpPr txBox="1">
            <a:spLocks/>
          </p:cNvSpPr>
          <p:nvPr/>
        </p:nvSpPr>
        <p:spPr>
          <a:xfrm>
            <a:off x="1371600" y="1638300"/>
            <a:ext cx="960120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tr-TR"/>
              <a:t>Verilerimizi basit bir tablo olarak görmekten ziyade işte Orange aracının gelişmiş görselleştirme özelliklerinden yararlanarak verilerimizi daha iyi analiz edebilecek hale getirebiliriz.</a:t>
            </a:r>
          </a:p>
        </p:txBody>
      </p:sp>
    </p:spTree>
    <p:extLst>
      <p:ext uri="{BB962C8B-B14F-4D97-AF65-F5344CB8AC3E}">
        <p14:creationId xmlns:p14="http://schemas.microsoft.com/office/powerpoint/2010/main" val="3184868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BD3D93-8844-475D-9883-02294BE55AB9}"/>
              </a:ext>
            </a:extLst>
          </p:cNvPr>
          <p:cNvSpPr>
            <a:spLocks noGrp="1"/>
          </p:cNvSpPr>
          <p:nvPr>
            <p:ph type="title"/>
          </p:nvPr>
        </p:nvSpPr>
        <p:spPr/>
        <p:txBody>
          <a:bodyPr/>
          <a:lstStyle/>
          <a:p>
            <a:r>
              <a:rPr lang="tr-TR"/>
              <a:t>Orange Dağılım Grafiği</a:t>
            </a:r>
          </a:p>
        </p:txBody>
      </p:sp>
      <p:sp>
        <p:nvSpPr>
          <p:cNvPr id="4" name="Metin Yer Tutucusu 3">
            <a:extLst>
              <a:ext uri="{FF2B5EF4-FFF2-40B4-BE49-F238E27FC236}">
                <a16:creationId xmlns:a16="http://schemas.microsoft.com/office/drawing/2014/main" id="{F9507221-7DFE-49CE-88D3-EBD1986AA8A5}"/>
              </a:ext>
            </a:extLst>
          </p:cNvPr>
          <p:cNvSpPr>
            <a:spLocks noGrp="1"/>
          </p:cNvSpPr>
          <p:nvPr>
            <p:ph type="body" sz="half" idx="2"/>
          </p:nvPr>
        </p:nvSpPr>
        <p:spPr/>
        <p:txBody>
          <a:bodyPr/>
          <a:lstStyle/>
          <a:p>
            <a:r>
              <a:rPr lang="tr-TR"/>
              <a:t>Araç kutumuzda Visualze (Görselleştirme) başlığı altında grafik tablosu, görsel tablo gibi bir çok veri görselleştirme özelliğine erişebiliriz.</a:t>
            </a:r>
          </a:p>
          <a:p>
            <a:r>
              <a:rPr lang="tr-TR"/>
              <a:t>Böylelikle basit de olsa hazır bir veri seti ile ilk iş akışımızı oluşturmuş olduk!</a:t>
            </a:r>
          </a:p>
          <a:p>
            <a:endParaRPr lang="tr-TR"/>
          </a:p>
        </p:txBody>
      </p:sp>
      <p:sp>
        <p:nvSpPr>
          <p:cNvPr id="7" name="Ok: Sol 6">
            <a:extLst>
              <a:ext uri="{FF2B5EF4-FFF2-40B4-BE49-F238E27FC236}">
                <a16:creationId xmlns:a16="http://schemas.microsoft.com/office/drawing/2014/main" id="{68EEBDDD-D164-4425-911A-B2EA81729C6C}"/>
              </a:ext>
            </a:extLst>
          </p:cNvPr>
          <p:cNvSpPr/>
          <p:nvPr/>
        </p:nvSpPr>
        <p:spPr>
          <a:xfrm>
            <a:off x="9542034" y="2130503"/>
            <a:ext cx="527124" cy="37651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1" name="İçerik Yer Tutucusu 10">
            <a:extLst>
              <a:ext uri="{FF2B5EF4-FFF2-40B4-BE49-F238E27FC236}">
                <a16:creationId xmlns:a16="http://schemas.microsoft.com/office/drawing/2014/main" id="{D9DEB5D1-2BCE-405A-82C3-5A87830AA679}"/>
              </a:ext>
            </a:extLst>
          </p:cNvPr>
          <p:cNvPicPr>
            <a:picLocks noGrp="1" noChangeAspect="1"/>
          </p:cNvPicPr>
          <p:nvPr>
            <p:ph idx="1"/>
          </p:nvPr>
        </p:nvPicPr>
        <p:blipFill>
          <a:blip r:embed="rId2"/>
          <a:stretch>
            <a:fillRect/>
          </a:stretch>
        </p:blipFill>
        <p:spPr>
          <a:xfrm>
            <a:off x="5525093" y="1620608"/>
            <a:ext cx="6666907" cy="3616784"/>
          </a:xfrm>
        </p:spPr>
      </p:pic>
      <p:sp>
        <p:nvSpPr>
          <p:cNvPr id="12" name="Ok: Yukarı 11">
            <a:extLst>
              <a:ext uri="{FF2B5EF4-FFF2-40B4-BE49-F238E27FC236}">
                <a16:creationId xmlns:a16="http://schemas.microsoft.com/office/drawing/2014/main" id="{A1A395CB-A0D1-4962-8341-17706B7D5BE6}"/>
              </a:ext>
            </a:extLst>
          </p:cNvPr>
          <p:cNvSpPr/>
          <p:nvPr/>
        </p:nvSpPr>
        <p:spPr>
          <a:xfrm>
            <a:off x="7336716" y="2856344"/>
            <a:ext cx="408790" cy="57265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Oval 12">
            <a:extLst>
              <a:ext uri="{FF2B5EF4-FFF2-40B4-BE49-F238E27FC236}">
                <a16:creationId xmlns:a16="http://schemas.microsoft.com/office/drawing/2014/main" id="{9C5D407D-83D4-48CC-892D-CF25F9968FEC}"/>
              </a:ext>
            </a:extLst>
          </p:cNvPr>
          <p:cNvSpPr/>
          <p:nvPr/>
        </p:nvSpPr>
        <p:spPr>
          <a:xfrm>
            <a:off x="6434275" y="2318762"/>
            <a:ext cx="540477" cy="540477"/>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790768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A8129E-B208-41C7-BE94-BD9749F7C05A}"/>
              </a:ext>
            </a:extLst>
          </p:cNvPr>
          <p:cNvSpPr>
            <a:spLocks noGrp="1"/>
          </p:cNvSpPr>
          <p:nvPr>
            <p:ph type="title"/>
          </p:nvPr>
        </p:nvSpPr>
        <p:spPr/>
        <p:txBody>
          <a:bodyPr/>
          <a:lstStyle/>
          <a:p>
            <a:r>
              <a:rPr lang="tr-TR"/>
              <a:t>Orange aracı ile birliktelik analizi</a:t>
            </a:r>
          </a:p>
        </p:txBody>
      </p:sp>
      <p:sp>
        <p:nvSpPr>
          <p:cNvPr id="3" name="Metin Yer Tutucusu 2">
            <a:extLst>
              <a:ext uri="{FF2B5EF4-FFF2-40B4-BE49-F238E27FC236}">
                <a16:creationId xmlns:a16="http://schemas.microsoft.com/office/drawing/2014/main" id="{39210B2B-1B9C-4E8B-BAFF-9C384ED3D3F9}"/>
              </a:ext>
            </a:extLst>
          </p:cNvPr>
          <p:cNvSpPr>
            <a:spLocks noGrp="1"/>
          </p:cNvSpPr>
          <p:nvPr>
            <p:ph type="body" idx="1"/>
          </p:nvPr>
        </p:nvSpPr>
        <p:spPr/>
        <p:txBody>
          <a:bodyPr/>
          <a:lstStyle/>
          <a:p>
            <a:r>
              <a:rPr lang="tr-TR"/>
              <a:t>Apriori Algoritması, Sepet Analizi, Bioinformatiks, Hastalık Teşhisi, Web Madenciliği, Metin Madenciliği, … gibi </a:t>
            </a:r>
          </a:p>
        </p:txBody>
      </p:sp>
    </p:spTree>
    <p:extLst>
      <p:ext uri="{BB962C8B-B14F-4D97-AF65-F5344CB8AC3E}">
        <p14:creationId xmlns:p14="http://schemas.microsoft.com/office/powerpoint/2010/main" val="1750186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83C76A-B459-4EFF-9ABF-2FCCF89F6EA2}"/>
              </a:ext>
            </a:extLst>
          </p:cNvPr>
          <p:cNvSpPr>
            <a:spLocks noGrp="1"/>
          </p:cNvSpPr>
          <p:nvPr>
            <p:ph type="title"/>
          </p:nvPr>
        </p:nvSpPr>
        <p:spPr/>
        <p:txBody>
          <a:bodyPr/>
          <a:lstStyle/>
          <a:p>
            <a:r>
              <a:rPr lang="tr-TR"/>
              <a:t>BİRLİKTELİK KURALLARI</a:t>
            </a:r>
          </a:p>
        </p:txBody>
      </p:sp>
      <p:sp>
        <p:nvSpPr>
          <p:cNvPr id="3" name="İçerik Yer Tutucusu 2">
            <a:extLst>
              <a:ext uri="{FF2B5EF4-FFF2-40B4-BE49-F238E27FC236}">
                <a16:creationId xmlns:a16="http://schemas.microsoft.com/office/drawing/2014/main" id="{9529054D-D312-400E-8CA9-C9E9ED6B640D}"/>
              </a:ext>
            </a:extLst>
          </p:cNvPr>
          <p:cNvSpPr>
            <a:spLocks noGrp="1"/>
          </p:cNvSpPr>
          <p:nvPr>
            <p:ph idx="1"/>
          </p:nvPr>
        </p:nvSpPr>
        <p:spPr/>
        <p:txBody>
          <a:bodyPr/>
          <a:lstStyle/>
          <a:p>
            <a:r>
              <a:rPr lang="tr-TR"/>
              <a:t>Orange aracının nimetlerini gördükten sonra bunlardan faydalanarak gerçeğe yakın bir analiz çalışması yapabiliriz.</a:t>
            </a:r>
          </a:p>
          <a:p>
            <a:r>
              <a:rPr lang="tr-TR"/>
              <a:t>Örnek olarak bir birliktelik analizi gerçekleştirelim.</a:t>
            </a:r>
          </a:p>
          <a:p>
            <a:r>
              <a:rPr lang="tr-TR"/>
              <a:t>Birliktelik analizleri veri seti içerisindeki if – else durumlarını yani eğer böyleyse ya da böyle değilse gibi çıkarımlar yapmamızı sağlarlar, kategorik veriler üzerinde iyi sonuçlar verirler.</a:t>
            </a:r>
          </a:p>
          <a:p>
            <a:r>
              <a:rPr lang="tr-TR"/>
              <a:t>En bilindik örneği sepet analizleridir. Bizler de Orange aracı ile bir sepet analizi yapalım.</a:t>
            </a:r>
          </a:p>
        </p:txBody>
      </p:sp>
    </p:spTree>
    <p:extLst>
      <p:ext uri="{BB962C8B-B14F-4D97-AF65-F5344CB8AC3E}">
        <p14:creationId xmlns:p14="http://schemas.microsoft.com/office/powerpoint/2010/main" val="3457995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80A1F35-ADF2-41C4-BDE4-6B7FD11A2C44}"/>
              </a:ext>
            </a:extLst>
          </p:cNvPr>
          <p:cNvSpPr>
            <a:spLocks noGrp="1"/>
          </p:cNvSpPr>
          <p:nvPr>
            <p:ph type="title"/>
          </p:nvPr>
        </p:nvSpPr>
        <p:spPr/>
        <p:txBody>
          <a:bodyPr/>
          <a:lstStyle/>
          <a:p>
            <a:r>
              <a:rPr lang="tr-TR"/>
              <a:t>Sepet Analizi</a:t>
            </a:r>
          </a:p>
        </p:txBody>
      </p:sp>
      <p:pic>
        <p:nvPicPr>
          <p:cNvPr id="6" name="İçerik Yer Tutucusu 5">
            <a:extLst>
              <a:ext uri="{FF2B5EF4-FFF2-40B4-BE49-F238E27FC236}">
                <a16:creationId xmlns:a16="http://schemas.microsoft.com/office/drawing/2014/main" id="{7C02D49C-3A76-4A85-802D-EFC1B7EC189F}"/>
              </a:ext>
            </a:extLst>
          </p:cNvPr>
          <p:cNvPicPr>
            <a:picLocks noGrp="1" noChangeAspect="1"/>
          </p:cNvPicPr>
          <p:nvPr>
            <p:ph idx="1"/>
          </p:nvPr>
        </p:nvPicPr>
        <p:blipFill>
          <a:blip r:embed="rId2"/>
          <a:stretch>
            <a:fillRect/>
          </a:stretch>
        </p:blipFill>
        <p:spPr>
          <a:xfrm>
            <a:off x="7071269" y="2268397"/>
            <a:ext cx="3581900" cy="2010056"/>
          </a:xfrm>
        </p:spPr>
      </p:pic>
      <p:sp>
        <p:nvSpPr>
          <p:cNvPr id="4" name="Metin Yer Tutucusu 3">
            <a:extLst>
              <a:ext uri="{FF2B5EF4-FFF2-40B4-BE49-F238E27FC236}">
                <a16:creationId xmlns:a16="http://schemas.microsoft.com/office/drawing/2014/main" id="{F3AB3206-7507-44ED-B7ED-F27A1D28D3E1}"/>
              </a:ext>
            </a:extLst>
          </p:cNvPr>
          <p:cNvSpPr>
            <a:spLocks noGrp="1"/>
          </p:cNvSpPr>
          <p:nvPr>
            <p:ph type="body" sz="half" idx="2"/>
          </p:nvPr>
        </p:nvSpPr>
        <p:spPr/>
        <p:txBody>
          <a:bodyPr>
            <a:normAutofit lnSpcReduction="10000"/>
          </a:bodyPr>
          <a:lstStyle/>
          <a:p>
            <a:r>
              <a:rPr lang="tr-TR"/>
              <a:t>Elimizde 5 farklı kişinin yaptığı alışveriş listesi olduğunu varsaydığımız bir tablomuz olsun.</a:t>
            </a:r>
          </a:p>
          <a:p>
            <a:r>
              <a:rPr lang="tr-TR"/>
              <a:t>Öncelikle elimizde bunun gibi daha büyük bir veri setimiz olduğunda nasıl çıkarımlar yapabileceğimizi düşünelim. Örneğin ekmek alan müşterilerin yanında genellikle ne aldıklarını, ne alabileceklerini analiz ederek veri sahibi market için direktifler oluşturabilirdik.</a:t>
            </a:r>
          </a:p>
        </p:txBody>
      </p:sp>
    </p:spTree>
    <p:extLst>
      <p:ext uri="{BB962C8B-B14F-4D97-AF65-F5344CB8AC3E}">
        <p14:creationId xmlns:p14="http://schemas.microsoft.com/office/powerpoint/2010/main" val="4043461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41DDBA-672B-421F-9EA9-241C9DEBAAFE}"/>
              </a:ext>
            </a:extLst>
          </p:cNvPr>
          <p:cNvSpPr>
            <a:spLocks noGrp="1"/>
          </p:cNvSpPr>
          <p:nvPr>
            <p:ph type="title"/>
          </p:nvPr>
        </p:nvSpPr>
        <p:spPr/>
        <p:txBody>
          <a:bodyPr/>
          <a:lstStyle/>
          <a:p>
            <a:r>
              <a:rPr lang="tr-TR"/>
              <a:t>İşlem Matrisi – İkili Gösterim</a:t>
            </a:r>
          </a:p>
        </p:txBody>
      </p:sp>
      <p:pic>
        <p:nvPicPr>
          <p:cNvPr id="6" name="İçerik Yer Tutucusu 5">
            <a:extLst>
              <a:ext uri="{FF2B5EF4-FFF2-40B4-BE49-F238E27FC236}">
                <a16:creationId xmlns:a16="http://schemas.microsoft.com/office/drawing/2014/main" id="{41AE0B61-0EC0-45B8-983E-BA6CEF606D8A}"/>
              </a:ext>
            </a:extLst>
          </p:cNvPr>
          <p:cNvPicPr>
            <a:picLocks noGrp="1" noChangeAspect="1"/>
          </p:cNvPicPr>
          <p:nvPr>
            <p:ph idx="1"/>
          </p:nvPr>
        </p:nvPicPr>
        <p:blipFill>
          <a:blip r:embed="rId2"/>
          <a:stretch>
            <a:fillRect/>
          </a:stretch>
        </p:blipFill>
        <p:spPr>
          <a:xfrm>
            <a:off x="5845403" y="2439832"/>
            <a:ext cx="6096033" cy="1978335"/>
          </a:xfrm>
        </p:spPr>
      </p:pic>
      <p:sp>
        <p:nvSpPr>
          <p:cNvPr id="4" name="Metin Yer Tutucusu 3">
            <a:extLst>
              <a:ext uri="{FF2B5EF4-FFF2-40B4-BE49-F238E27FC236}">
                <a16:creationId xmlns:a16="http://schemas.microsoft.com/office/drawing/2014/main" id="{B9075D5C-0AB3-4950-84E9-B3C22ED94E0C}"/>
              </a:ext>
            </a:extLst>
          </p:cNvPr>
          <p:cNvSpPr>
            <a:spLocks noGrp="1"/>
          </p:cNvSpPr>
          <p:nvPr>
            <p:ph type="body" sz="half" idx="2"/>
          </p:nvPr>
        </p:nvSpPr>
        <p:spPr/>
        <p:txBody>
          <a:bodyPr/>
          <a:lstStyle/>
          <a:p>
            <a:r>
              <a:rPr lang="tr-TR"/>
              <a:t>Elimizdeki bu alışveriş listesindeki faturalarda yapılan işlemlerin bir matrisini çıkaracak olursak elimizde böyle bir veri seti oluşmuş olacaktır. Böylelikle bu veri seti üzerinde Orange aracı ile işlemler yapabiliriz.</a:t>
            </a:r>
          </a:p>
        </p:txBody>
      </p:sp>
    </p:spTree>
    <p:extLst>
      <p:ext uri="{BB962C8B-B14F-4D97-AF65-F5344CB8AC3E}">
        <p14:creationId xmlns:p14="http://schemas.microsoft.com/office/powerpoint/2010/main" val="3571859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161360-054D-435C-9197-B9E1CCEF49CF}"/>
              </a:ext>
            </a:extLst>
          </p:cNvPr>
          <p:cNvSpPr>
            <a:spLocks noGrp="1"/>
          </p:cNvSpPr>
          <p:nvPr>
            <p:ph type="title"/>
          </p:nvPr>
        </p:nvSpPr>
        <p:spPr/>
        <p:txBody>
          <a:bodyPr/>
          <a:lstStyle/>
          <a:p>
            <a:r>
              <a:rPr lang="tr-TR"/>
              <a:t>ANALİZ İÇİN TANIMLAR</a:t>
            </a:r>
          </a:p>
        </p:txBody>
      </p:sp>
      <p:sp>
        <p:nvSpPr>
          <p:cNvPr id="3" name="İçerik Yer Tutucusu 2">
            <a:extLst>
              <a:ext uri="{FF2B5EF4-FFF2-40B4-BE49-F238E27FC236}">
                <a16:creationId xmlns:a16="http://schemas.microsoft.com/office/drawing/2014/main" id="{E45CCE87-877A-4078-A40A-C34AFBCDBE16}"/>
              </a:ext>
            </a:extLst>
          </p:cNvPr>
          <p:cNvSpPr>
            <a:spLocks noGrp="1"/>
          </p:cNvSpPr>
          <p:nvPr>
            <p:ph idx="1"/>
          </p:nvPr>
        </p:nvSpPr>
        <p:spPr/>
        <p:txBody>
          <a:bodyPr/>
          <a:lstStyle/>
          <a:p>
            <a:r>
              <a:rPr lang="tr-TR"/>
              <a:t>Destek Değeri: Bir ilişkinin tüm alışverişler içinde hangi oranda tekrarlandığını belirtir.</a:t>
            </a:r>
          </a:p>
          <a:p>
            <a:r>
              <a:rPr lang="tr-TR"/>
              <a:t>Güven Değeri: X ürününü alan müşterilerin Y ürününü alma olasılığını belirtir.</a:t>
            </a:r>
          </a:p>
          <a:p>
            <a:pPr marL="0" indent="0">
              <a:buNone/>
            </a:pPr>
            <a:endParaRPr lang="tr-TR"/>
          </a:p>
          <a:p>
            <a:pPr marL="0" indent="0">
              <a:buNone/>
            </a:pPr>
            <a:r>
              <a:rPr lang="tr-TR"/>
              <a:t>İşte bu değerleri varsayılan olarak ya da firmanın belirtiği düzeyde belirleyerek belirli analizler yapmamız gerekmektedir.</a:t>
            </a:r>
          </a:p>
        </p:txBody>
      </p:sp>
    </p:spTree>
    <p:extLst>
      <p:ext uri="{BB962C8B-B14F-4D97-AF65-F5344CB8AC3E}">
        <p14:creationId xmlns:p14="http://schemas.microsoft.com/office/powerpoint/2010/main" val="2171374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55B359-DD5F-44EF-A704-620DC2148121}"/>
              </a:ext>
            </a:extLst>
          </p:cNvPr>
          <p:cNvSpPr>
            <a:spLocks noGrp="1"/>
          </p:cNvSpPr>
          <p:nvPr>
            <p:ph type="title"/>
          </p:nvPr>
        </p:nvSpPr>
        <p:spPr/>
        <p:txBody>
          <a:bodyPr/>
          <a:lstStyle/>
          <a:p>
            <a:r>
              <a:rPr lang="tr-TR"/>
              <a:t>Apriori Algoritması</a:t>
            </a:r>
          </a:p>
        </p:txBody>
      </p:sp>
      <p:sp>
        <p:nvSpPr>
          <p:cNvPr id="4" name="Metin Yer Tutucusu 3">
            <a:extLst>
              <a:ext uri="{FF2B5EF4-FFF2-40B4-BE49-F238E27FC236}">
                <a16:creationId xmlns:a16="http://schemas.microsoft.com/office/drawing/2014/main" id="{03A4FC39-5DBF-460C-AADA-7A95C1418B66}"/>
              </a:ext>
            </a:extLst>
          </p:cNvPr>
          <p:cNvSpPr>
            <a:spLocks noGrp="1"/>
          </p:cNvSpPr>
          <p:nvPr>
            <p:ph type="body" sz="half" idx="2"/>
          </p:nvPr>
        </p:nvSpPr>
        <p:spPr/>
        <p:txBody>
          <a:bodyPr/>
          <a:lstStyle/>
          <a:p>
            <a:r>
              <a:rPr lang="tr-TR"/>
              <a:t>Apriori Algoritması, Birliktelik Kuralının çıkarılmasındaki en çok kullanılan algoritmadır.</a:t>
            </a:r>
          </a:p>
          <a:p>
            <a:r>
              <a:rPr lang="tr-TR"/>
              <a:t>Birliktelik kuralında bahsedildiği gibi elimizdeki veri setini if – else durumlarına göre analiz etmemizi sağlar.</a:t>
            </a:r>
          </a:p>
        </p:txBody>
      </p:sp>
      <p:pic>
        <p:nvPicPr>
          <p:cNvPr id="11" name="İçerik Yer Tutucusu 10">
            <a:extLst>
              <a:ext uri="{FF2B5EF4-FFF2-40B4-BE49-F238E27FC236}">
                <a16:creationId xmlns:a16="http://schemas.microsoft.com/office/drawing/2014/main" id="{ACC31470-C8DD-4C05-A24E-BE1A2D776338}"/>
              </a:ext>
            </a:extLst>
          </p:cNvPr>
          <p:cNvPicPr>
            <a:picLocks noGrp="1" noChangeAspect="1"/>
          </p:cNvPicPr>
          <p:nvPr>
            <p:ph idx="1"/>
          </p:nvPr>
        </p:nvPicPr>
        <p:blipFill>
          <a:blip r:embed="rId2"/>
          <a:stretch>
            <a:fillRect/>
          </a:stretch>
        </p:blipFill>
        <p:spPr>
          <a:xfrm>
            <a:off x="6256338" y="319835"/>
            <a:ext cx="5211762" cy="1444907"/>
          </a:xfrm>
        </p:spPr>
      </p:pic>
      <p:sp>
        <p:nvSpPr>
          <p:cNvPr id="9" name="İçerik Yer Tutucusu 7">
            <a:extLst>
              <a:ext uri="{FF2B5EF4-FFF2-40B4-BE49-F238E27FC236}">
                <a16:creationId xmlns:a16="http://schemas.microsoft.com/office/drawing/2014/main" id="{39890472-54DF-4A70-896B-42FD00137562}"/>
              </a:ext>
            </a:extLst>
          </p:cNvPr>
          <p:cNvSpPr txBox="1">
            <a:spLocks/>
          </p:cNvSpPr>
          <p:nvPr/>
        </p:nvSpPr>
        <p:spPr>
          <a:xfrm>
            <a:off x="6096000" y="5887123"/>
            <a:ext cx="5212080" cy="517525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9pPr>
          </a:lstStyle>
          <a:p>
            <a:endParaRPr lang="tr-TR"/>
          </a:p>
        </p:txBody>
      </p:sp>
      <p:pic>
        <p:nvPicPr>
          <p:cNvPr id="13" name="Resim 12">
            <a:extLst>
              <a:ext uri="{FF2B5EF4-FFF2-40B4-BE49-F238E27FC236}">
                <a16:creationId xmlns:a16="http://schemas.microsoft.com/office/drawing/2014/main" id="{F8764F59-276A-4166-916A-F84DCF2D323E}"/>
              </a:ext>
            </a:extLst>
          </p:cNvPr>
          <p:cNvPicPr>
            <a:picLocks noChangeAspect="1"/>
          </p:cNvPicPr>
          <p:nvPr/>
        </p:nvPicPr>
        <p:blipFill>
          <a:blip r:embed="rId3"/>
          <a:stretch>
            <a:fillRect/>
          </a:stretch>
        </p:blipFill>
        <p:spPr>
          <a:xfrm>
            <a:off x="6256338" y="1969850"/>
            <a:ext cx="4839375" cy="2057687"/>
          </a:xfrm>
          <a:prstGeom prst="rect">
            <a:avLst/>
          </a:prstGeom>
        </p:spPr>
      </p:pic>
      <p:pic>
        <p:nvPicPr>
          <p:cNvPr id="15" name="Resim 14">
            <a:extLst>
              <a:ext uri="{FF2B5EF4-FFF2-40B4-BE49-F238E27FC236}">
                <a16:creationId xmlns:a16="http://schemas.microsoft.com/office/drawing/2014/main" id="{1C0ED8D7-5230-4D71-8521-7FA1D898D22F}"/>
              </a:ext>
            </a:extLst>
          </p:cNvPr>
          <p:cNvPicPr>
            <a:picLocks noChangeAspect="1"/>
          </p:cNvPicPr>
          <p:nvPr/>
        </p:nvPicPr>
        <p:blipFill>
          <a:blip r:embed="rId4"/>
          <a:stretch>
            <a:fillRect/>
          </a:stretch>
        </p:blipFill>
        <p:spPr>
          <a:xfrm>
            <a:off x="6256338" y="4361872"/>
            <a:ext cx="5258534" cy="1771897"/>
          </a:xfrm>
          <a:prstGeom prst="rect">
            <a:avLst/>
          </a:prstGeom>
        </p:spPr>
      </p:pic>
    </p:spTree>
    <p:extLst>
      <p:ext uri="{BB962C8B-B14F-4D97-AF65-F5344CB8AC3E}">
        <p14:creationId xmlns:p14="http://schemas.microsoft.com/office/powerpoint/2010/main" val="73036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CA79E7-BE47-4A55-9302-7B7C54CAEB35}"/>
              </a:ext>
            </a:extLst>
          </p:cNvPr>
          <p:cNvSpPr>
            <a:spLocks noGrp="1"/>
          </p:cNvSpPr>
          <p:nvPr>
            <p:ph type="title"/>
          </p:nvPr>
        </p:nvSpPr>
        <p:spPr/>
        <p:txBody>
          <a:bodyPr/>
          <a:lstStyle/>
          <a:p>
            <a:r>
              <a:rPr lang="tr-TR"/>
              <a:t>Associate Eklentisi</a:t>
            </a:r>
          </a:p>
        </p:txBody>
      </p:sp>
      <p:sp>
        <p:nvSpPr>
          <p:cNvPr id="4" name="Metin Yer Tutucusu 3">
            <a:extLst>
              <a:ext uri="{FF2B5EF4-FFF2-40B4-BE49-F238E27FC236}">
                <a16:creationId xmlns:a16="http://schemas.microsoft.com/office/drawing/2014/main" id="{F79364EC-3CD0-436F-BCC7-48851680988F}"/>
              </a:ext>
            </a:extLst>
          </p:cNvPr>
          <p:cNvSpPr>
            <a:spLocks noGrp="1"/>
          </p:cNvSpPr>
          <p:nvPr>
            <p:ph type="body" sz="half" idx="2"/>
          </p:nvPr>
        </p:nvSpPr>
        <p:spPr>
          <a:xfrm>
            <a:off x="723900" y="2283318"/>
            <a:ext cx="3855720" cy="3888882"/>
          </a:xfrm>
        </p:spPr>
        <p:txBody>
          <a:bodyPr>
            <a:normAutofit/>
          </a:bodyPr>
          <a:lstStyle/>
          <a:p>
            <a:r>
              <a:rPr lang="tr-TR"/>
              <a:t>Excel üzerinde yaptığımız bu çalışmaların gerçek bir veri madenciliği ortamında yapılması ve dinamik halde gerçekleşebilmesi için Orange aracımızı kullanacağız.</a:t>
            </a:r>
          </a:p>
          <a:p>
            <a:r>
              <a:rPr lang="tr-TR"/>
              <a:t>Orange üzerinde Birliktelik Kurallarını uygulayabilmek için Associate eklentisine ihtiyaç duymaktayız.</a:t>
            </a:r>
          </a:p>
          <a:p>
            <a:r>
              <a:rPr lang="tr-TR"/>
              <a:t>Options → Add-ons menüsü üzerinden Orange eklentilerini görüntüleyebilir ve eklentimizi yükleyebiliriz.</a:t>
            </a:r>
          </a:p>
        </p:txBody>
      </p:sp>
      <p:pic>
        <p:nvPicPr>
          <p:cNvPr id="10" name="İçerik Yer Tutucusu 9">
            <a:extLst>
              <a:ext uri="{FF2B5EF4-FFF2-40B4-BE49-F238E27FC236}">
                <a16:creationId xmlns:a16="http://schemas.microsoft.com/office/drawing/2014/main" id="{7FAA680C-EDEA-474A-99A7-F855D7B3C8C0}"/>
              </a:ext>
            </a:extLst>
          </p:cNvPr>
          <p:cNvPicPr>
            <a:picLocks noGrp="1" noChangeAspect="1"/>
          </p:cNvPicPr>
          <p:nvPr>
            <p:ph idx="1"/>
          </p:nvPr>
        </p:nvPicPr>
        <p:blipFill>
          <a:blip r:embed="rId2"/>
          <a:stretch>
            <a:fillRect/>
          </a:stretch>
        </p:blipFill>
        <p:spPr>
          <a:xfrm>
            <a:off x="6096000" y="1484559"/>
            <a:ext cx="5935662" cy="3888882"/>
          </a:xfrm>
        </p:spPr>
      </p:pic>
    </p:spTree>
    <p:extLst>
      <p:ext uri="{BB962C8B-B14F-4D97-AF65-F5344CB8AC3E}">
        <p14:creationId xmlns:p14="http://schemas.microsoft.com/office/powerpoint/2010/main" val="414712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6A88E8D5-13B0-4B11-B275-48BAF9F7AF44}"/>
              </a:ext>
            </a:extLst>
          </p:cNvPr>
          <p:cNvPicPr>
            <a:picLocks noChangeAspect="1"/>
          </p:cNvPicPr>
          <p:nvPr/>
        </p:nvPicPr>
        <p:blipFill rotWithShape="1">
          <a:blip r:embed="rId2"/>
          <a:srcRect/>
          <a:stretch/>
        </p:blipFill>
        <p:spPr>
          <a:xfrm>
            <a:off x="714887" y="0"/>
            <a:ext cx="11477113" cy="6858000"/>
          </a:xfrm>
          <a:prstGeom prst="rect">
            <a:avLst/>
          </a:prstGeom>
        </p:spPr>
      </p:pic>
    </p:spTree>
    <p:extLst>
      <p:ext uri="{BB962C8B-B14F-4D97-AF65-F5344CB8AC3E}">
        <p14:creationId xmlns:p14="http://schemas.microsoft.com/office/powerpoint/2010/main" val="1216202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AA4980-C595-4DF8-B6F3-1F1905E9A182}"/>
              </a:ext>
            </a:extLst>
          </p:cNvPr>
          <p:cNvSpPr>
            <a:spLocks noGrp="1"/>
          </p:cNvSpPr>
          <p:nvPr>
            <p:ph type="title"/>
          </p:nvPr>
        </p:nvSpPr>
        <p:spPr/>
        <p:txBody>
          <a:bodyPr/>
          <a:lstStyle/>
          <a:p>
            <a:r>
              <a:rPr lang="tr-TR"/>
              <a:t>ÖZET</a:t>
            </a:r>
          </a:p>
        </p:txBody>
      </p:sp>
      <p:sp>
        <p:nvSpPr>
          <p:cNvPr id="3" name="İçerik Yer Tutucusu 2">
            <a:extLst>
              <a:ext uri="{FF2B5EF4-FFF2-40B4-BE49-F238E27FC236}">
                <a16:creationId xmlns:a16="http://schemas.microsoft.com/office/drawing/2014/main" id="{798CCAD9-CBCE-4E44-AF28-4E561D96A435}"/>
              </a:ext>
            </a:extLst>
          </p:cNvPr>
          <p:cNvSpPr>
            <a:spLocks noGrp="1"/>
          </p:cNvSpPr>
          <p:nvPr>
            <p:ph idx="1"/>
          </p:nvPr>
        </p:nvSpPr>
        <p:spPr/>
        <p:txBody>
          <a:bodyPr/>
          <a:lstStyle/>
          <a:p>
            <a:r>
              <a:rPr lang="tr-TR"/>
              <a:t>Elimizdeki alışveriş listesini Orange aracına veri seti dosyası olarak ekledik  ve birliktelik analizini yapmak için işe koyulduk.</a:t>
            </a:r>
          </a:p>
          <a:p>
            <a:r>
              <a:rPr lang="tr-TR"/>
              <a:t>Öncelikle verimizin veri tablosunu görüntüledik,</a:t>
            </a:r>
          </a:p>
          <a:p>
            <a:r>
              <a:rPr lang="tr-TR"/>
              <a:t>Associate eklentimizin bileşenlerinden frequent items (sık öğeleri) görüntüledik,</a:t>
            </a:r>
          </a:p>
          <a:p>
            <a:r>
              <a:rPr lang="tr-TR"/>
              <a:t>Ve son olarak association rules bileşeni ile de birliktelik analizi için nihai tablomuzu oluşturmuş olduk.</a:t>
            </a:r>
          </a:p>
          <a:p>
            <a:r>
              <a:rPr lang="tr-TR"/>
              <a:t>Orange aracı sayesinde bu bağlantıları her hangi bir kod yazmadan kolaylıkla gerçekleştirdik. Böylelikle Python’ın gücünü kullanan bu paket programların avantajlarına bir bakış atmış olduk.</a:t>
            </a:r>
          </a:p>
        </p:txBody>
      </p:sp>
    </p:spTree>
    <p:extLst>
      <p:ext uri="{BB962C8B-B14F-4D97-AF65-F5344CB8AC3E}">
        <p14:creationId xmlns:p14="http://schemas.microsoft.com/office/powerpoint/2010/main" val="4133626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AFA3128E-23EB-4EC9-8233-E954A91AFF59}"/>
              </a:ext>
            </a:extLst>
          </p:cNvPr>
          <p:cNvSpPr>
            <a:spLocks noGrp="1"/>
          </p:cNvSpPr>
          <p:nvPr>
            <p:ph type="title"/>
          </p:nvPr>
        </p:nvSpPr>
        <p:spPr>
          <a:xfrm>
            <a:off x="1371600" y="685800"/>
            <a:ext cx="9601200" cy="1485900"/>
          </a:xfrm>
        </p:spPr>
        <p:txBody>
          <a:bodyPr/>
          <a:lstStyle/>
          <a:p>
            <a:pPr algn="l"/>
            <a:r>
              <a:rPr lang="tr-TR"/>
              <a:t>kaynakça</a:t>
            </a:r>
          </a:p>
        </p:txBody>
      </p:sp>
      <p:sp>
        <p:nvSpPr>
          <p:cNvPr id="5" name="İçerik Yer Tutucusu 2">
            <a:extLst>
              <a:ext uri="{FF2B5EF4-FFF2-40B4-BE49-F238E27FC236}">
                <a16:creationId xmlns:a16="http://schemas.microsoft.com/office/drawing/2014/main" id="{99B0EB63-8CB9-4AC3-9B39-49CECDFABD33}"/>
              </a:ext>
            </a:extLst>
          </p:cNvPr>
          <p:cNvSpPr txBox="1">
            <a:spLocks/>
          </p:cNvSpPr>
          <p:nvPr/>
        </p:nvSpPr>
        <p:spPr>
          <a:xfrm>
            <a:off x="1371600" y="2286000"/>
            <a:ext cx="9601200" cy="3581400"/>
          </a:xfrm>
          <a:prstGeom prst="rect">
            <a:avLst/>
          </a:prstGeom>
        </p:spPr>
        <p:txBody>
          <a:bodyPr vert="horz" lIns="91440" tIns="45720" rIns="91440" bIns="45720" rtlCol="0">
            <a:normAutofit/>
          </a:bodyPr>
          <a:lstStyle>
            <a:lvl1pPr marL="0" indent="0" algn="r" defTabSz="914400" rtl="0" eaLnBrk="1" latinLnBrk="0" hangingPunct="1">
              <a:lnSpc>
                <a:spcPct val="112000"/>
              </a:lnSpc>
              <a:spcBef>
                <a:spcPts val="0"/>
              </a:spcBef>
              <a:spcAft>
                <a:spcPts val="0"/>
              </a:spcAft>
              <a:buFont typeface="Franklin Gothic Book" panose="020B0503020102020204" pitchFamily="34" charset="0"/>
              <a:buNone/>
              <a:defRPr sz="2400" kern="1200" baseline="0">
                <a:solidFill>
                  <a:schemeClr val="tx2"/>
                </a:solidFill>
                <a:latin typeface="+mn-lt"/>
                <a:ea typeface="+mn-ea"/>
                <a:cs typeface="+mn-cs"/>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1">
                    <a:tint val="75000"/>
                  </a:schemeClr>
                </a:solidFill>
                <a:latin typeface="+mn-lt"/>
                <a:ea typeface="+mn-ea"/>
                <a:cs typeface="+mn-cs"/>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1">
                    <a:tint val="75000"/>
                  </a:schemeClr>
                </a:solidFill>
                <a:latin typeface="+mn-lt"/>
                <a:ea typeface="+mn-ea"/>
                <a:cs typeface="+mn-cs"/>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1">
                    <a:tint val="75000"/>
                  </a:schemeClr>
                </a:solidFill>
                <a:latin typeface="+mn-lt"/>
                <a:ea typeface="+mn-ea"/>
                <a:cs typeface="+mn-cs"/>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1">
                    <a:tint val="75000"/>
                  </a:schemeClr>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1">
                    <a:tint val="75000"/>
                  </a:schemeClr>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1">
                    <a:tint val="75000"/>
                  </a:schemeClr>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1">
                    <a:tint val="75000"/>
                  </a:schemeClr>
                </a:solidFill>
                <a:latin typeface="+mn-lt"/>
                <a:ea typeface="+mn-ea"/>
                <a:cs typeface="+mn-cs"/>
              </a:defRPr>
            </a:lvl9pPr>
          </a:lstStyle>
          <a:p>
            <a:pPr algn="l"/>
            <a:r>
              <a:rPr lang="tr-TR">
                <a:hlinkClick r:id="rId2"/>
              </a:rPr>
              <a:t>Adım Adım "Veri Madenciliği" 11 Orange 01 – YouTube</a:t>
            </a:r>
            <a:r>
              <a:rPr lang="tr-TR"/>
              <a:t> – Ufuk ÇELİK</a:t>
            </a:r>
          </a:p>
          <a:p>
            <a:pPr algn="l"/>
            <a:r>
              <a:rPr lang="en-US">
                <a:hlinkClick r:id="rId3"/>
              </a:rPr>
              <a:t>Getting Started with Orange 01: Welcome to Orange – YouTube</a:t>
            </a:r>
            <a:endParaRPr lang="tr-TR"/>
          </a:p>
          <a:p>
            <a:pPr algn="l"/>
            <a:r>
              <a:rPr lang="en-US">
                <a:hlinkClick r:id="rId4"/>
              </a:rPr>
              <a:t>Getting Started with Orange 02: Data Workflows – YouTube</a:t>
            </a:r>
            <a:endParaRPr lang="tr-TR"/>
          </a:p>
          <a:p>
            <a:pPr algn="l"/>
            <a:r>
              <a:rPr lang="en-US">
                <a:hlinkClick r:id="rId5"/>
              </a:rPr>
              <a:t>Getting Started with Orange 03: Widgets and Channels - YouTube</a:t>
            </a:r>
            <a:endParaRPr lang="tr-TR"/>
          </a:p>
          <a:p>
            <a:pPr algn="l"/>
            <a:r>
              <a:rPr lang="tr-TR">
                <a:hlinkClick r:id="rId6"/>
              </a:rPr>
              <a:t>python_ile_veri_madenciligi_nodrm.pdf</a:t>
            </a:r>
            <a:r>
              <a:rPr lang="tr-TR"/>
              <a:t> – Caner ERDEN</a:t>
            </a:r>
          </a:p>
          <a:p>
            <a:pPr algn="l"/>
            <a:r>
              <a:rPr lang="tr-TR">
                <a:hlinkClick r:id="rId7"/>
              </a:rPr>
              <a:t>Orange Data Mining - Data Mining</a:t>
            </a:r>
            <a:endParaRPr lang="tr-TR"/>
          </a:p>
          <a:p>
            <a:pPr algn="l"/>
            <a:endParaRPr lang="tr-TR"/>
          </a:p>
        </p:txBody>
      </p:sp>
    </p:spTree>
    <p:extLst>
      <p:ext uri="{BB962C8B-B14F-4D97-AF65-F5344CB8AC3E}">
        <p14:creationId xmlns:p14="http://schemas.microsoft.com/office/powerpoint/2010/main" val="1085290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51C133-4A31-487E-B9E5-580B330671AD}"/>
              </a:ext>
            </a:extLst>
          </p:cNvPr>
          <p:cNvSpPr>
            <a:spLocks noGrp="1"/>
          </p:cNvSpPr>
          <p:nvPr>
            <p:ph type="ctrTitle"/>
          </p:nvPr>
        </p:nvSpPr>
        <p:spPr/>
        <p:txBody>
          <a:bodyPr/>
          <a:lstStyle/>
          <a:p>
            <a:r>
              <a:rPr lang="tr-TR"/>
              <a:t>teşekkürler</a:t>
            </a:r>
          </a:p>
        </p:txBody>
      </p:sp>
      <p:sp>
        <p:nvSpPr>
          <p:cNvPr id="3" name="Alt Başlık 2">
            <a:extLst>
              <a:ext uri="{FF2B5EF4-FFF2-40B4-BE49-F238E27FC236}">
                <a16:creationId xmlns:a16="http://schemas.microsoft.com/office/drawing/2014/main" id="{FEB32D1C-E575-4907-BD7C-DB8F519D1713}"/>
              </a:ext>
            </a:extLst>
          </p:cNvPr>
          <p:cNvSpPr>
            <a:spLocks noGrp="1"/>
          </p:cNvSpPr>
          <p:nvPr>
            <p:ph type="subTitle" idx="1"/>
          </p:nvPr>
        </p:nvSpPr>
        <p:spPr/>
        <p:txBody>
          <a:bodyPr/>
          <a:lstStyle/>
          <a:p>
            <a:r>
              <a:rPr lang="tr-TR"/>
              <a:t>ÖMER YILMAZ</a:t>
            </a:r>
          </a:p>
        </p:txBody>
      </p:sp>
    </p:spTree>
    <p:extLst>
      <p:ext uri="{BB962C8B-B14F-4D97-AF65-F5344CB8AC3E}">
        <p14:creationId xmlns:p14="http://schemas.microsoft.com/office/powerpoint/2010/main" val="2199498964"/>
      </p:ext>
    </p:extLst>
  </p:cSld>
  <p:clrMapOvr>
    <a:masterClrMapping/>
  </p:clrMapOvr>
</p:sld>
</file>

<file path=ppt/theme/theme1.xml><?xml version="1.0" encoding="utf-8"?>
<a:theme xmlns:a="http://schemas.openxmlformats.org/drawingml/2006/main" name="Kırpma">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docProps/app.xml><?xml version="1.0" encoding="utf-8"?>
<Properties xmlns="http://schemas.openxmlformats.org/officeDocument/2006/extended-properties" xmlns:vt="http://schemas.openxmlformats.org/officeDocument/2006/docPropsVTypes">
  <Template>TM10001105[[fn=Kırpma]]</Template>
  <TotalTime>405</TotalTime>
  <Words>810</Words>
  <Application>Microsoft Office PowerPoint</Application>
  <PresentationFormat>Geniş ekran</PresentationFormat>
  <Paragraphs>76</Paragraphs>
  <Slides>20</Slides>
  <Notes>0</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20</vt:i4>
      </vt:variant>
    </vt:vector>
  </HeadingPairs>
  <TitlesOfParts>
    <vt:vector size="22" baseType="lpstr">
      <vt:lpstr>Franklin Gothic Book</vt:lpstr>
      <vt:lpstr>Kırpma</vt:lpstr>
      <vt:lpstr>Python ile VERİ MADENCİLİĞi</vt:lpstr>
      <vt:lpstr>ORANGE ARACI </vt:lpstr>
      <vt:lpstr>Orange Aracı Arayüz </vt:lpstr>
      <vt:lpstr>Orange Araç Kutusu</vt:lpstr>
      <vt:lpstr>VERİ ANALİZİ İŞ AKIŞI</vt:lpstr>
      <vt:lpstr>Orange Aracına Veri Seti Ekleme</vt:lpstr>
      <vt:lpstr>Orange Veri Tablosu Oluşturma</vt:lpstr>
      <vt:lpstr>ORANGE VERİLERİ GÖRSELLEŞTİRME</vt:lpstr>
      <vt:lpstr>Orange Dağılım Grafiği</vt:lpstr>
      <vt:lpstr>Orange aracı ile birliktelik analizi</vt:lpstr>
      <vt:lpstr>BİRLİKTELİK KURALLARI</vt:lpstr>
      <vt:lpstr>Sepet Analizi</vt:lpstr>
      <vt:lpstr>İşlem Matrisi – İkili Gösterim</vt:lpstr>
      <vt:lpstr>ANALİZ İÇİN TANIMLAR</vt:lpstr>
      <vt:lpstr>Apriori Algoritması</vt:lpstr>
      <vt:lpstr>Associate Eklentisi</vt:lpstr>
      <vt:lpstr>PowerPoint Sunusu</vt:lpstr>
      <vt:lpstr>ÖZET</vt:lpstr>
      <vt:lpstr>kaynakça</vt:lpstr>
      <vt:lpstr>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ile VERİ MADENCİLİĞi</dc:title>
  <dc:creator>ÖMER YILMAZ</dc:creator>
  <cp:lastModifiedBy>ÖMER YILMAZ</cp:lastModifiedBy>
  <cp:revision>3</cp:revision>
  <dcterms:created xsi:type="dcterms:W3CDTF">2022-06-16T18:14:17Z</dcterms:created>
  <dcterms:modified xsi:type="dcterms:W3CDTF">2022-06-17T01:01:16Z</dcterms:modified>
</cp:coreProperties>
</file>